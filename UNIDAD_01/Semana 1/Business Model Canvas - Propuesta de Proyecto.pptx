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9753600" cy="7315200"/>
  <p:notesSz cx="6858000" cy="9144000"/>
  <p:embeddedFontLst>
    <p:embeddedFont>
      <p:font typeface="Oswald Bold" charset="1" panose="00000800000000000000"/>
      <p:regular r:id="rId7"/>
    </p:embeddedFont>
    <p:embeddedFont>
      <p:font typeface="Bree Serif" charset="1" panose="02000503040000020004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666" t="0" r="-16666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40495" y="1704316"/>
            <a:ext cx="1737232" cy="3822669"/>
            <a:chOff x="0" y="0"/>
            <a:chExt cx="643419" cy="14158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3419" cy="1415803"/>
            </a:xfrm>
            <a:custGeom>
              <a:avLst/>
              <a:gdLst/>
              <a:ahLst/>
              <a:cxnLst/>
              <a:rect r="r" b="b" t="t" l="l"/>
              <a:pathLst>
                <a:path h="1415803" w="643419">
                  <a:moveTo>
                    <a:pt x="89129" y="0"/>
                  </a:moveTo>
                  <a:lnTo>
                    <a:pt x="554290" y="0"/>
                  </a:lnTo>
                  <a:cubicBezTo>
                    <a:pt x="603515" y="0"/>
                    <a:pt x="643419" y="39905"/>
                    <a:pt x="643419" y="89129"/>
                  </a:cubicBezTo>
                  <a:lnTo>
                    <a:pt x="643419" y="1326674"/>
                  </a:lnTo>
                  <a:cubicBezTo>
                    <a:pt x="643419" y="1350313"/>
                    <a:pt x="634029" y="1372983"/>
                    <a:pt x="617314" y="1389698"/>
                  </a:cubicBezTo>
                  <a:cubicBezTo>
                    <a:pt x="600599" y="1406413"/>
                    <a:pt x="577928" y="1415803"/>
                    <a:pt x="554290" y="1415803"/>
                  </a:cubicBezTo>
                  <a:lnTo>
                    <a:pt x="89129" y="1415803"/>
                  </a:lnTo>
                  <a:cubicBezTo>
                    <a:pt x="65491" y="1415803"/>
                    <a:pt x="42820" y="1406413"/>
                    <a:pt x="26105" y="1389698"/>
                  </a:cubicBezTo>
                  <a:cubicBezTo>
                    <a:pt x="9390" y="1372983"/>
                    <a:pt x="0" y="1350313"/>
                    <a:pt x="0" y="1326674"/>
                  </a:cubicBezTo>
                  <a:lnTo>
                    <a:pt x="0" y="89129"/>
                  </a:lnTo>
                  <a:cubicBezTo>
                    <a:pt x="0" y="65491"/>
                    <a:pt x="9390" y="42820"/>
                    <a:pt x="26105" y="26105"/>
                  </a:cubicBezTo>
                  <a:cubicBezTo>
                    <a:pt x="42820" y="9390"/>
                    <a:pt x="65491" y="0"/>
                    <a:pt x="89129" y="0"/>
                  </a:cubicBezTo>
                  <a:close/>
                </a:path>
              </a:pathLst>
            </a:custGeom>
            <a:solidFill>
              <a:srgbClr val="FFFFFF">
                <a:alpha val="60784"/>
              </a:srgbClr>
            </a:solidFill>
            <a:ln w="19050" cap="sq">
              <a:solidFill>
                <a:srgbClr val="B4CAE9">
                  <a:alpha val="60784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643419" cy="1415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3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40495" y="5638552"/>
            <a:ext cx="4462984" cy="1324030"/>
            <a:chOff x="0" y="0"/>
            <a:chExt cx="1652957" cy="49038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52957" cy="490382"/>
            </a:xfrm>
            <a:custGeom>
              <a:avLst/>
              <a:gdLst/>
              <a:ahLst/>
              <a:cxnLst/>
              <a:rect r="r" b="b" t="t" l="l"/>
              <a:pathLst>
                <a:path h="490382" w="1652957">
                  <a:moveTo>
                    <a:pt x="34694" y="0"/>
                  </a:moveTo>
                  <a:lnTo>
                    <a:pt x="1618263" y="0"/>
                  </a:lnTo>
                  <a:cubicBezTo>
                    <a:pt x="1637424" y="0"/>
                    <a:pt x="1652957" y="15533"/>
                    <a:pt x="1652957" y="34694"/>
                  </a:cubicBezTo>
                  <a:lnTo>
                    <a:pt x="1652957" y="455688"/>
                  </a:lnTo>
                  <a:cubicBezTo>
                    <a:pt x="1652957" y="474848"/>
                    <a:pt x="1637424" y="490382"/>
                    <a:pt x="1618263" y="490382"/>
                  </a:cubicBezTo>
                  <a:lnTo>
                    <a:pt x="34694" y="490382"/>
                  </a:lnTo>
                  <a:cubicBezTo>
                    <a:pt x="15533" y="490382"/>
                    <a:pt x="0" y="474848"/>
                    <a:pt x="0" y="455688"/>
                  </a:cubicBezTo>
                  <a:lnTo>
                    <a:pt x="0" y="34694"/>
                  </a:lnTo>
                  <a:cubicBezTo>
                    <a:pt x="0" y="15533"/>
                    <a:pt x="15533" y="0"/>
                    <a:pt x="34694" y="0"/>
                  </a:cubicBezTo>
                  <a:close/>
                </a:path>
              </a:pathLst>
            </a:custGeom>
            <a:solidFill>
              <a:srgbClr val="FFFFFF">
                <a:alpha val="60784"/>
              </a:srgbClr>
            </a:solidFill>
            <a:ln w="19050" cap="sq">
              <a:solidFill>
                <a:srgbClr val="B4CAE9">
                  <a:alpha val="60784"/>
                </a:srgbClr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652957" cy="4903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33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950121" y="5638552"/>
            <a:ext cx="4462984" cy="1324030"/>
            <a:chOff x="0" y="0"/>
            <a:chExt cx="1652957" cy="49038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52957" cy="490382"/>
            </a:xfrm>
            <a:custGeom>
              <a:avLst/>
              <a:gdLst/>
              <a:ahLst/>
              <a:cxnLst/>
              <a:rect r="r" b="b" t="t" l="l"/>
              <a:pathLst>
                <a:path h="490382" w="1652957">
                  <a:moveTo>
                    <a:pt x="34694" y="0"/>
                  </a:moveTo>
                  <a:lnTo>
                    <a:pt x="1618263" y="0"/>
                  </a:lnTo>
                  <a:cubicBezTo>
                    <a:pt x="1637424" y="0"/>
                    <a:pt x="1652957" y="15533"/>
                    <a:pt x="1652957" y="34694"/>
                  </a:cubicBezTo>
                  <a:lnTo>
                    <a:pt x="1652957" y="455688"/>
                  </a:lnTo>
                  <a:cubicBezTo>
                    <a:pt x="1652957" y="474848"/>
                    <a:pt x="1637424" y="490382"/>
                    <a:pt x="1618263" y="490382"/>
                  </a:cubicBezTo>
                  <a:lnTo>
                    <a:pt x="34694" y="490382"/>
                  </a:lnTo>
                  <a:cubicBezTo>
                    <a:pt x="15533" y="490382"/>
                    <a:pt x="0" y="474848"/>
                    <a:pt x="0" y="455688"/>
                  </a:cubicBezTo>
                  <a:lnTo>
                    <a:pt x="0" y="34694"/>
                  </a:lnTo>
                  <a:cubicBezTo>
                    <a:pt x="0" y="15533"/>
                    <a:pt x="15533" y="0"/>
                    <a:pt x="34694" y="0"/>
                  </a:cubicBezTo>
                  <a:close/>
                </a:path>
              </a:pathLst>
            </a:custGeom>
            <a:solidFill>
              <a:srgbClr val="FFFFFF">
                <a:alpha val="60784"/>
              </a:srgbClr>
            </a:solidFill>
            <a:ln w="19050" cap="sq">
              <a:solidFill>
                <a:srgbClr val="B4CAE9">
                  <a:alpha val="60784"/>
                </a:srgbClr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652957" cy="4903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33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175702" y="1704316"/>
            <a:ext cx="1737232" cy="1838320"/>
            <a:chOff x="0" y="0"/>
            <a:chExt cx="643419" cy="68085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43419" cy="680859"/>
            </a:xfrm>
            <a:custGeom>
              <a:avLst/>
              <a:gdLst/>
              <a:ahLst/>
              <a:cxnLst/>
              <a:rect r="r" b="b" t="t" l="l"/>
              <a:pathLst>
                <a:path h="680859" w="643419">
                  <a:moveTo>
                    <a:pt x="89129" y="0"/>
                  </a:moveTo>
                  <a:lnTo>
                    <a:pt x="554290" y="0"/>
                  </a:lnTo>
                  <a:cubicBezTo>
                    <a:pt x="603515" y="0"/>
                    <a:pt x="643419" y="39905"/>
                    <a:pt x="643419" y="89129"/>
                  </a:cubicBezTo>
                  <a:lnTo>
                    <a:pt x="643419" y="591730"/>
                  </a:lnTo>
                  <a:cubicBezTo>
                    <a:pt x="643419" y="615368"/>
                    <a:pt x="634029" y="638039"/>
                    <a:pt x="617314" y="654754"/>
                  </a:cubicBezTo>
                  <a:cubicBezTo>
                    <a:pt x="600599" y="671469"/>
                    <a:pt x="577928" y="680859"/>
                    <a:pt x="554290" y="680859"/>
                  </a:cubicBezTo>
                  <a:lnTo>
                    <a:pt x="89129" y="680859"/>
                  </a:lnTo>
                  <a:cubicBezTo>
                    <a:pt x="65491" y="680859"/>
                    <a:pt x="42820" y="671469"/>
                    <a:pt x="26105" y="654754"/>
                  </a:cubicBezTo>
                  <a:cubicBezTo>
                    <a:pt x="9390" y="638039"/>
                    <a:pt x="0" y="615368"/>
                    <a:pt x="0" y="591730"/>
                  </a:cubicBezTo>
                  <a:lnTo>
                    <a:pt x="0" y="89129"/>
                  </a:lnTo>
                  <a:cubicBezTo>
                    <a:pt x="0" y="65491"/>
                    <a:pt x="9390" y="42820"/>
                    <a:pt x="26105" y="26105"/>
                  </a:cubicBezTo>
                  <a:cubicBezTo>
                    <a:pt x="42820" y="9390"/>
                    <a:pt x="65491" y="0"/>
                    <a:pt x="89129" y="0"/>
                  </a:cubicBezTo>
                  <a:close/>
                </a:path>
              </a:pathLst>
            </a:custGeom>
            <a:solidFill>
              <a:srgbClr val="FFFFFF">
                <a:alpha val="60784"/>
              </a:srgbClr>
            </a:solidFill>
            <a:ln w="19050" cap="sq">
              <a:solidFill>
                <a:srgbClr val="B4CAE9">
                  <a:alpha val="60784"/>
                </a:srgbClr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643419" cy="680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33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010909" y="1704316"/>
            <a:ext cx="1737232" cy="3822669"/>
            <a:chOff x="0" y="0"/>
            <a:chExt cx="643419" cy="141580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43419" cy="1415803"/>
            </a:xfrm>
            <a:custGeom>
              <a:avLst/>
              <a:gdLst/>
              <a:ahLst/>
              <a:cxnLst/>
              <a:rect r="r" b="b" t="t" l="l"/>
              <a:pathLst>
                <a:path h="1415803" w="643419">
                  <a:moveTo>
                    <a:pt x="89129" y="0"/>
                  </a:moveTo>
                  <a:lnTo>
                    <a:pt x="554290" y="0"/>
                  </a:lnTo>
                  <a:cubicBezTo>
                    <a:pt x="603515" y="0"/>
                    <a:pt x="643419" y="39905"/>
                    <a:pt x="643419" y="89129"/>
                  </a:cubicBezTo>
                  <a:lnTo>
                    <a:pt x="643419" y="1326674"/>
                  </a:lnTo>
                  <a:cubicBezTo>
                    <a:pt x="643419" y="1350313"/>
                    <a:pt x="634029" y="1372983"/>
                    <a:pt x="617314" y="1389698"/>
                  </a:cubicBezTo>
                  <a:cubicBezTo>
                    <a:pt x="600599" y="1406413"/>
                    <a:pt x="577928" y="1415803"/>
                    <a:pt x="554290" y="1415803"/>
                  </a:cubicBezTo>
                  <a:lnTo>
                    <a:pt x="89129" y="1415803"/>
                  </a:lnTo>
                  <a:cubicBezTo>
                    <a:pt x="65491" y="1415803"/>
                    <a:pt x="42820" y="1406413"/>
                    <a:pt x="26105" y="1389698"/>
                  </a:cubicBezTo>
                  <a:cubicBezTo>
                    <a:pt x="9390" y="1372983"/>
                    <a:pt x="0" y="1350313"/>
                    <a:pt x="0" y="1326674"/>
                  </a:cubicBezTo>
                  <a:lnTo>
                    <a:pt x="0" y="89129"/>
                  </a:lnTo>
                  <a:cubicBezTo>
                    <a:pt x="0" y="65491"/>
                    <a:pt x="9390" y="42820"/>
                    <a:pt x="26105" y="26105"/>
                  </a:cubicBezTo>
                  <a:cubicBezTo>
                    <a:pt x="42820" y="9390"/>
                    <a:pt x="65491" y="0"/>
                    <a:pt x="89129" y="0"/>
                  </a:cubicBezTo>
                  <a:close/>
                </a:path>
              </a:pathLst>
            </a:custGeom>
            <a:solidFill>
              <a:srgbClr val="FFFFFF">
                <a:alpha val="60784"/>
              </a:srgbClr>
            </a:solidFill>
            <a:ln w="19050" cap="sq">
              <a:solidFill>
                <a:srgbClr val="B4CAE9">
                  <a:alpha val="60784"/>
                </a:srgbClr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643419" cy="1415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33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846116" y="1704316"/>
            <a:ext cx="1737232" cy="1838320"/>
            <a:chOff x="0" y="0"/>
            <a:chExt cx="643419" cy="68085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43419" cy="680859"/>
            </a:xfrm>
            <a:custGeom>
              <a:avLst/>
              <a:gdLst/>
              <a:ahLst/>
              <a:cxnLst/>
              <a:rect r="r" b="b" t="t" l="l"/>
              <a:pathLst>
                <a:path h="680859" w="643419">
                  <a:moveTo>
                    <a:pt x="89129" y="0"/>
                  </a:moveTo>
                  <a:lnTo>
                    <a:pt x="554290" y="0"/>
                  </a:lnTo>
                  <a:cubicBezTo>
                    <a:pt x="603515" y="0"/>
                    <a:pt x="643419" y="39905"/>
                    <a:pt x="643419" y="89129"/>
                  </a:cubicBezTo>
                  <a:lnTo>
                    <a:pt x="643419" y="591730"/>
                  </a:lnTo>
                  <a:cubicBezTo>
                    <a:pt x="643419" y="615368"/>
                    <a:pt x="634029" y="638039"/>
                    <a:pt x="617314" y="654754"/>
                  </a:cubicBezTo>
                  <a:cubicBezTo>
                    <a:pt x="600599" y="671469"/>
                    <a:pt x="577928" y="680859"/>
                    <a:pt x="554290" y="680859"/>
                  </a:cubicBezTo>
                  <a:lnTo>
                    <a:pt x="89129" y="680859"/>
                  </a:lnTo>
                  <a:cubicBezTo>
                    <a:pt x="65491" y="680859"/>
                    <a:pt x="42820" y="671469"/>
                    <a:pt x="26105" y="654754"/>
                  </a:cubicBezTo>
                  <a:cubicBezTo>
                    <a:pt x="9390" y="638039"/>
                    <a:pt x="0" y="615368"/>
                    <a:pt x="0" y="591730"/>
                  </a:cubicBezTo>
                  <a:lnTo>
                    <a:pt x="0" y="89129"/>
                  </a:lnTo>
                  <a:cubicBezTo>
                    <a:pt x="0" y="65491"/>
                    <a:pt x="9390" y="42820"/>
                    <a:pt x="26105" y="26105"/>
                  </a:cubicBezTo>
                  <a:cubicBezTo>
                    <a:pt x="42820" y="9390"/>
                    <a:pt x="65491" y="0"/>
                    <a:pt x="89129" y="0"/>
                  </a:cubicBezTo>
                  <a:close/>
                </a:path>
              </a:pathLst>
            </a:custGeom>
            <a:solidFill>
              <a:srgbClr val="FFFFFF">
                <a:alpha val="60784"/>
              </a:srgbClr>
            </a:solidFill>
            <a:ln w="19050" cap="sq">
              <a:solidFill>
                <a:srgbClr val="B4CAE9">
                  <a:alpha val="60784"/>
                </a:srgbClr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643419" cy="680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33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846116" y="3652511"/>
            <a:ext cx="1737232" cy="1874475"/>
            <a:chOff x="0" y="0"/>
            <a:chExt cx="643419" cy="6942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43419" cy="694250"/>
            </a:xfrm>
            <a:custGeom>
              <a:avLst/>
              <a:gdLst/>
              <a:ahLst/>
              <a:cxnLst/>
              <a:rect r="r" b="b" t="t" l="l"/>
              <a:pathLst>
                <a:path h="694250" w="643419">
                  <a:moveTo>
                    <a:pt x="89129" y="0"/>
                  </a:moveTo>
                  <a:lnTo>
                    <a:pt x="554290" y="0"/>
                  </a:lnTo>
                  <a:cubicBezTo>
                    <a:pt x="603515" y="0"/>
                    <a:pt x="643419" y="39905"/>
                    <a:pt x="643419" y="89129"/>
                  </a:cubicBezTo>
                  <a:lnTo>
                    <a:pt x="643419" y="605120"/>
                  </a:lnTo>
                  <a:cubicBezTo>
                    <a:pt x="643419" y="628759"/>
                    <a:pt x="634029" y="651429"/>
                    <a:pt x="617314" y="668144"/>
                  </a:cubicBezTo>
                  <a:cubicBezTo>
                    <a:pt x="600599" y="684860"/>
                    <a:pt x="577928" y="694250"/>
                    <a:pt x="554290" y="694250"/>
                  </a:cubicBezTo>
                  <a:lnTo>
                    <a:pt x="89129" y="694250"/>
                  </a:lnTo>
                  <a:cubicBezTo>
                    <a:pt x="65491" y="694250"/>
                    <a:pt x="42820" y="684860"/>
                    <a:pt x="26105" y="668144"/>
                  </a:cubicBezTo>
                  <a:cubicBezTo>
                    <a:pt x="9390" y="651429"/>
                    <a:pt x="0" y="628759"/>
                    <a:pt x="0" y="605120"/>
                  </a:cubicBezTo>
                  <a:lnTo>
                    <a:pt x="0" y="89129"/>
                  </a:lnTo>
                  <a:cubicBezTo>
                    <a:pt x="0" y="65491"/>
                    <a:pt x="9390" y="42820"/>
                    <a:pt x="26105" y="26105"/>
                  </a:cubicBezTo>
                  <a:cubicBezTo>
                    <a:pt x="42820" y="9390"/>
                    <a:pt x="65491" y="0"/>
                    <a:pt x="89129" y="0"/>
                  </a:cubicBezTo>
                  <a:close/>
                </a:path>
              </a:pathLst>
            </a:custGeom>
            <a:solidFill>
              <a:srgbClr val="FFFFFF">
                <a:alpha val="60784"/>
              </a:srgbClr>
            </a:solidFill>
            <a:ln w="19050" cap="sq">
              <a:solidFill>
                <a:srgbClr val="B4CAE9">
                  <a:alpha val="60784"/>
                </a:srgbClr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643419" cy="694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33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175702" y="3652511"/>
            <a:ext cx="1737232" cy="1874475"/>
            <a:chOff x="0" y="0"/>
            <a:chExt cx="643419" cy="6942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43419" cy="694250"/>
            </a:xfrm>
            <a:custGeom>
              <a:avLst/>
              <a:gdLst/>
              <a:ahLst/>
              <a:cxnLst/>
              <a:rect r="r" b="b" t="t" l="l"/>
              <a:pathLst>
                <a:path h="694250" w="643419">
                  <a:moveTo>
                    <a:pt x="89129" y="0"/>
                  </a:moveTo>
                  <a:lnTo>
                    <a:pt x="554290" y="0"/>
                  </a:lnTo>
                  <a:cubicBezTo>
                    <a:pt x="603515" y="0"/>
                    <a:pt x="643419" y="39905"/>
                    <a:pt x="643419" y="89129"/>
                  </a:cubicBezTo>
                  <a:lnTo>
                    <a:pt x="643419" y="605120"/>
                  </a:lnTo>
                  <a:cubicBezTo>
                    <a:pt x="643419" y="628759"/>
                    <a:pt x="634029" y="651429"/>
                    <a:pt x="617314" y="668144"/>
                  </a:cubicBezTo>
                  <a:cubicBezTo>
                    <a:pt x="600599" y="684860"/>
                    <a:pt x="577928" y="694250"/>
                    <a:pt x="554290" y="694250"/>
                  </a:cubicBezTo>
                  <a:lnTo>
                    <a:pt x="89129" y="694250"/>
                  </a:lnTo>
                  <a:cubicBezTo>
                    <a:pt x="65491" y="694250"/>
                    <a:pt x="42820" y="684860"/>
                    <a:pt x="26105" y="668144"/>
                  </a:cubicBezTo>
                  <a:cubicBezTo>
                    <a:pt x="9390" y="651429"/>
                    <a:pt x="0" y="628759"/>
                    <a:pt x="0" y="605120"/>
                  </a:cubicBezTo>
                  <a:lnTo>
                    <a:pt x="0" y="89129"/>
                  </a:lnTo>
                  <a:cubicBezTo>
                    <a:pt x="0" y="65491"/>
                    <a:pt x="9390" y="42820"/>
                    <a:pt x="26105" y="26105"/>
                  </a:cubicBezTo>
                  <a:cubicBezTo>
                    <a:pt x="42820" y="9390"/>
                    <a:pt x="65491" y="0"/>
                    <a:pt x="89129" y="0"/>
                  </a:cubicBezTo>
                  <a:close/>
                </a:path>
              </a:pathLst>
            </a:custGeom>
            <a:solidFill>
              <a:srgbClr val="FFFFFF">
                <a:alpha val="60784"/>
              </a:srgbClr>
            </a:solidFill>
            <a:ln w="19050" cap="sq">
              <a:solidFill>
                <a:srgbClr val="B4CAE9">
                  <a:alpha val="60784"/>
                </a:srgbClr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643419" cy="694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33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681323" y="1704316"/>
            <a:ext cx="1737232" cy="3822669"/>
            <a:chOff x="0" y="0"/>
            <a:chExt cx="643419" cy="141580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43419" cy="1415803"/>
            </a:xfrm>
            <a:custGeom>
              <a:avLst/>
              <a:gdLst/>
              <a:ahLst/>
              <a:cxnLst/>
              <a:rect r="r" b="b" t="t" l="l"/>
              <a:pathLst>
                <a:path h="1415803" w="643419">
                  <a:moveTo>
                    <a:pt x="89129" y="0"/>
                  </a:moveTo>
                  <a:lnTo>
                    <a:pt x="554290" y="0"/>
                  </a:lnTo>
                  <a:cubicBezTo>
                    <a:pt x="603515" y="0"/>
                    <a:pt x="643419" y="39905"/>
                    <a:pt x="643419" y="89129"/>
                  </a:cubicBezTo>
                  <a:lnTo>
                    <a:pt x="643419" y="1326674"/>
                  </a:lnTo>
                  <a:cubicBezTo>
                    <a:pt x="643419" y="1350313"/>
                    <a:pt x="634029" y="1372983"/>
                    <a:pt x="617314" y="1389698"/>
                  </a:cubicBezTo>
                  <a:cubicBezTo>
                    <a:pt x="600599" y="1406413"/>
                    <a:pt x="577928" y="1415803"/>
                    <a:pt x="554290" y="1415803"/>
                  </a:cubicBezTo>
                  <a:lnTo>
                    <a:pt x="89129" y="1415803"/>
                  </a:lnTo>
                  <a:cubicBezTo>
                    <a:pt x="65491" y="1415803"/>
                    <a:pt x="42820" y="1406413"/>
                    <a:pt x="26105" y="1389698"/>
                  </a:cubicBezTo>
                  <a:cubicBezTo>
                    <a:pt x="9390" y="1372983"/>
                    <a:pt x="0" y="1350313"/>
                    <a:pt x="0" y="1326674"/>
                  </a:cubicBezTo>
                  <a:lnTo>
                    <a:pt x="0" y="89129"/>
                  </a:lnTo>
                  <a:cubicBezTo>
                    <a:pt x="0" y="65491"/>
                    <a:pt x="9390" y="42820"/>
                    <a:pt x="26105" y="26105"/>
                  </a:cubicBezTo>
                  <a:cubicBezTo>
                    <a:pt x="42820" y="9390"/>
                    <a:pt x="65491" y="0"/>
                    <a:pt x="89129" y="0"/>
                  </a:cubicBezTo>
                  <a:close/>
                </a:path>
              </a:pathLst>
            </a:custGeom>
            <a:solidFill>
              <a:srgbClr val="FFFFFF">
                <a:alpha val="60784"/>
              </a:srgbClr>
            </a:solidFill>
            <a:ln w="19050" cap="sq">
              <a:solidFill>
                <a:srgbClr val="B4CAE9">
                  <a:alpha val="60784"/>
                </a:srgbClr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643419" cy="1415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334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492476" y="1786402"/>
            <a:ext cx="1335332" cy="185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6"/>
              </a:lnSpc>
            </a:pPr>
            <a:r>
              <a:rPr lang="en-US" b="true" sz="1182">
                <a:solidFill>
                  <a:srgbClr val="3D3D3D"/>
                </a:solidFill>
                <a:latin typeface="Oswald Bold"/>
                <a:ea typeface="Oswald Bold"/>
                <a:cs typeface="Oswald Bold"/>
                <a:sym typeface="Oswald Bold"/>
              </a:rPr>
              <a:t>SOCIOS CLAVES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92476" y="2029834"/>
            <a:ext cx="1433270" cy="806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6147" indent="-118073" lvl="1">
              <a:lnSpc>
                <a:spcPts val="1334"/>
              </a:lnSpc>
              <a:buFont typeface="Arial"/>
              <a:buChar char="•"/>
            </a:pPr>
            <a:r>
              <a:rPr lang="en-US" sz="1093">
                <a:solidFill>
                  <a:srgbClr val="3D3D3D"/>
                </a:solidFill>
                <a:latin typeface="Bree Serif"/>
                <a:ea typeface="Bree Serif"/>
                <a:cs typeface="Bree Serif"/>
                <a:sym typeface="Bree Serif"/>
              </a:rPr>
              <a:t>Municipalidades</a:t>
            </a:r>
          </a:p>
          <a:p>
            <a:pPr algn="l" marL="236147" indent="-118073" lvl="1">
              <a:lnSpc>
                <a:spcPts val="1334"/>
              </a:lnSpc>
              <a:buFont typeface="Arial"/>
              <a:buChar char="•"/>
            </a:pPr>
            <a:r>
              <a:rPr lang="en-US" sz="1093">
                <a:solidFill>
                  <a:srgbClr val="3D3D3D"/>
                </a:solidFill>
                <a:latin typeface="Bree Serif"/>
                <a:ea typeface="Bree Serif"/>
                <a:cs typeface="Bree Serif"/>
                <a:sym typeface="Bree Serif"/>
              </a:rPr>
              <a:t>Policía Nacional</a:t>
            </a:r>
          </a:p>
          <a:p>
            <a:pPr algn="l" marL="236147" indent="-118073" lvl="1">
              <a:lnSpc>
                <a:spcPts val="1334"/>
              </a:lnSpc>
              <a:buFont typeface="Arial"/>
              <a:buChar char="•"/>
            </a:pPr>
            <a:r>
              <a:rPr lang="en-US" sz="1093">
                <a:solidFill>
                  <a:srgbClr val="3D3D3D"/>
                </a:solidFill>
                <a:latin typeface="Bree Serif"/>
                <a:ea typeface="Bree Serif"/>
                <a:cs typeface="Bree Serif"/>
                <a:sym typeface="Bree Serif"/>
              </a:rPr>
              <a:t>Cuerpo de Bomberos </a:t>
            </a:r>
          </a:p>
          <a:p>
            <a:pPr algn="l" marL="236147" indent="-118073" lvl="1">
              <a:lnSpc>
                <a:spcPts val="1334"/>
              </a:lnSpc>
              <a:buFont typeface="Arial"/>
              <a:buChar char="•"/>
            </a:pPr>
            <a:r>
              <a:rPr lang="en-US" sz="1093">
                <a:solidFill>
                  <a:srgbClr val="3D3D3D"/>
                </a:solidFill>
                <a:latin typeface="Bree Serif"/>
                <a:ea typeface="Bree Serif"/>
                <a:cs typeface="Bree Serif"/>
                <a:sym typeface="Bree Serif"/>
              </a:rPr>
              <a:t>Usuarios beta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160165" y="1786402"/>
            <a:ext cx="1433270" cy="185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1536"/>
              </a:lnSpc>
              <a:spcBef>
                <a:spcPct val="0"/>
              </a:spcBef>
            </a:pPr>
            <a:r>
              <a:rPr lang="en-US" b="true" sz="1182" u="none">
                <a:solidFill>
                  <a:srgbClr val="3D3D3D"/>
                </a:solidFill>
                <a:latin typeface="Oswald Bold"/>
                <a:ea typeface="Oswald Bold"/>
                <a:cs typeface="Oswald Bold"/>
                <a:sym typeface="Oswald Bold"/>
              </a:rPr>
              <a:t>PROPUESTA DE VALOR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326321" y="3713864"/>
            <a:ext cx="1433270" cy="185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1536"/>
              </a:lnSpc>
              <a:spcBef>
                <a:spcPct val="0"/>
              </a:spcBef>
            </a:pPr>
            <a:r>
              <a:rPr lang="en-US" b="true" sz="1182" u="none">
                <a:solidFill>
                  <a:srgbClr val="3D3D3D"/>
                </a:solidFill>
                <a:latin typeface="Oswald Bold"/>
                <a:ea typeface="Oswald Bold"/>
                <a:cs typeface="Oswald Bold"/>
                <a:sym typeface="Oswald Bold"/>
              </a:rPr>
              <a:t>RECURSOS CLAVES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160165" y="2029834"/>
            <a:ext cx="1486202" cy="2530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6147" indent="-118074" lvl="1">
              <a:lnSpc>
                <a:spcPts val="1334"/>
              </a:lnSpc>
              <a:buFont typeface="Arial"/>
              <a:buChar char="•"/>
            </a:pPr>
            <a:r>
              <a:rPr lang="en-US" sz="1093">
                <a:solidFill>
                  <a:srgbClr val="3D3D3D"/>
                </a:solidFill>
                <a:latin typeface="Bree Serif"/>
                <a:ea typeface="Bree Serif"/>
                <a:cs typeface="Bree Serif"/>
                <a:sym typeface="Bree Serif"/>
              </a:rPr>
              <a:t>Canal accesible, gratuito y eficaz </a:t>
            </a:r>
          </a:p>
          <a:p>
            <a:pPr algn="l" marL="236147" indent="-118074" lvl="1">
              <a:lnSpc>
                <a:spcPts val="1334"/>
              </a:lnSpc>
              <a:buFont typeface="Arial"/>
              <a:buChar char="•"/>
            </a:pPr>
            <a:r>
              <a:rPr lang="en-US" sz="1093">
                <a:solidFill>
                  <a:srgbClr val="3D3D3D"/>
                </a:solidFill>
                <a:latin typeface="Bree Serif"/>
                <a:ea typeface="Bree Serif"/>
                <a:cs typeface="Bree Serif"/>
                <a:sym typeface="Bree Serif"/>
              </a:rPr>
              <a:t>Georreferenciación automática (GPS) </a:t>
            </a:r>
          </a:p>
          <a:p>
            <a:pPr algn="l" marL="236147" indent="-118074" lvl="1">
              <a:lnSpc>
                <a:spcPts val="1334"/>
              </a:lnSpc>
              <a:buFont typeface="Arial"/>
              <a:buChar char="•"/>
            </a:pPr>
            <a:r>
              <a:rPr lang="en-US" sz="1093">
                <a:solidFill>
                  <a:srgbClr val="3D3D3D"/>
                </a:solidFill>
                <a:latin typeface="Bree Serif"/>
                <a:ea typeface="Bree Serif"/>
                <a:cs typeface="Bree Serif"/>
                <a:sym typeface="Bree Serif"/>
              </a:rPr>
              <a:t>Captura de evidencia multimedia </a:t>
            </a:r>
          </a:p>
          <a:p>
            <a:pPr algn="l" marL="236147" indent="-118074" lvl="1">
              <a:lnSpc>
                <a:spcPts val="1334"/>
              </a:lnSpc>
              <a:buFont typeface="Arial"/>
              <a:buChar char="•"/>
            </a:pPr>
            <a:r>
              <a:rPr lang="en-US" sz="1093">
                <a:solidFill>
                  <a:srgbClr val="3D3D3D"/>
                </a:solidFill>
                <a:latin typeface="Bree Serif"/>
                <a:ea typeface="Bree Serif"/>
                <a:cs typeface="Bree Serif"/>
                <a:sym typeface="Bree Serif"/>
              </a:rPr>
              <a:t>Reportes más completos y precisos (con ubicación exacta y evidencia)</a:t>
            </a:r>
          </a:p>
          <a:p>
            <a:pPr algn="l" marL="236147" indent="-118074" lvl="1">
              <a:lnSpc>
                <a:spcPts val="1334"/>
              </a:lnSpc>
              <a:spcBef>
                <a:spcPct val="0"/>
              </a:spcBef>
              <a:buFont typeface="Arial"/>
              <a:buChar char="•"/>
            </a:pPr>
            <a:r>
              <a:rPr lang="en-US" sz="1093">
                <a:solidFill>
                  <a:srgbClr val="3D3D3D"/>
                </a:solidFill>
                <a:latin typeface="Bree Serif"/>
                <a:ea typeface="Bree Serif"/>
                <a:cs typeface="Bree Serif"/>
                <a:sym typeface="Bree Serif"/>
              </a:rPr>
              <a:t>Mejora en la eficiencia operativa y tiempos de respuesta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326321" y="3968854"/>
            <a:ext cx="1433270" cy="947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6147" indent="-118074" lvl="1">
              <a:lnSpc>
                <a:spcPts val="1334"/>
              </a:lnSpc>
              <a:buFont typeface="Arial"/>
              <a:buChar char="•"/>
            </a:pPr>
            <a:r>
              <a:rPr lang="en-US" sz="1093">
                <a:solidFill>
                  <a:srgbClr val="3D3D3D"/>
                </a:solidFill>
                <a:latin typeface="Bree Serif"/>
                <a:ea typeface="Bree Serif"/>
                <a:cs typeface="Bree Serif"/>
                <a:sym typeface="Bree Serif"/>
              </a:rPr>
              <a:t>Tecnologías (Flutter, Firebase, Google Maps).</a:t>
            </a:r>
          </a:p>
          <a:p>
            <a:pPr algn="l" marL="236147" indent="-118074" lvl="1">
              <a:lnSpc>
                <a:spcPts val="1334"/>
              </a:lnSpc>
              <a:spcBef>
                <a:spcPct val="0"/>
              </a:spcBef>
              <a:buFont typeface="Arial"/>
              <a:buChar char="•"/>
            </a:pPr>
            <a:r>
              <a:rPr lang="en-US" sz="1093">
                <a:solidFill>
                  <a:srgbClr val="3D3D3D"/>
                </a:solidFill>
                <a:latin typeface="Bree Serif"/>
                <a:ea typeface="Bree Serif"/>
                <a:cs typeface="Bree Serif"/>
                <a:sym typeface="Bree Serif"/>
              </a:rPr>
              <a:t>Recursos Físicos (Computadora, Móviles)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827854" y="1786402"/>
            <a:ext cx="1433270" cy="375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1536"/>
              </a:lnSpc>
              <a:spcBef>
                <a:spcPct val="0"/>
              </a:spcBef>
            </a:pPr>
            <a:r>
              <a:rPr lang="en-US" b="true" sz="1182" u="none">
                <a:solidFill>
                  <a:srgbClr val="3D3D3D"/>
                </a:solidFill>
                <a:latin typeface="Oswald Bold"/>
                <a:ea typeface="Oswald Bold"/>
                <a:cs typeface="Oswald Bold"/>
                <a:sym typeface="Oswald Bold"/>
              </a:rPr>
              <a:t>SEGMENTOS DE CLIENTES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827854" y="2207635"/>
            <a:ext cx="1433270" cy="1263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6147" indent="-118074" lvl="1">
              <a:lnSpc>
                <a:spcPts val="1334"/>
              </a:lnSpc>
              <a:buFont typeface="Arial"/>
              <a:buChar char="•"/>
            </a:pPr>
            <a:r>
              <a:rPr lang="en-US" sz="1093">
                <a:solidFill>
                  <a:srgbClr val="3D3D3D"/>
                </a:solidFill>
                <a:latin typeface="Bree Serif"/>
                <a:ea typeface="Bree Serif"/>
                <a:cs typeface="Bree Serif"/>
                <a:sym typeface="Bree Serif"/>
              </a:rPr>
              <a:t>Ciudadanos de Tacna</a:t>
            </a:r>
          </a:p>
          <a:p>
            <a:pPr algn="l" marL="236147" indent="-118074" lvl="1">
              <a:lnSpc>
                <a:spcPts val="1334"/>
              </a:lnSpc>
              <a:buFont typeface="Arial"/>
              <a:buChar char="•"/>
            </a:pPr>
            <a:r>
              <a:rPr lang="en-US" sz="1093">
                <a:solidFill>
                  <a:srgbClr val="3D3D3D"/>
                </a:solidFill>
                <a:latin typeface="Bree Serif"/>
                <a:ea typeface="Bree Serif"/>
                <a:cs typeface="Bree Serif"/>
                <a:sym typeface="Bree Serif"/>
              </a:rPr>
              <a:t>Municipalidades de Tacna</a:t>
            </a:r>
          </a:p>
          <a:p>
            <a:pPr algn="l" marL="236147" indent="-118074" lvl="1">
              <a:lnSpc>
                <a:spcPts val="1334"/>
              </a:lnSpc>
              <a:buFont typeface="Arial"/>
              <a:buChar char="•"/>
            </a:pPr>
            <a:r>
              <a:rPr lang="en-US" sz="1093">
                <a:solidFill>
                  <a:srgbClr val="3D3D3D"/>
                </a:solidFill>
                <a:latin typeface="Bree Serif"/>
                <a:ea typeface="Bree Serif"/>
                <a:cs typeface="Bree Serif"/>
                <a:sym typeface="Bree Serif"/>
              </a:rPr>
              <a:t>Comisarias de Tacna</a:t>
            </a:r>
          </a:p>
          <a:p>
            <a:pPr algn="l" marL="236147" indent="-118074" lvl="1">
              <a:lnSpc>
                <a:spcPts val="1334"/>
              </a:lnSpc>
              <a:spcBef>
                <a:spcPct val="0"/>
              </a:spcBef>
              <a:buFont typeface="Arial"/>
              <a:buChar char="•"/>
            </a:pPr>
            <a:r>
              <a:rPr lang="en-US" sz="1093">
                <a:solidFill>
                  <a:srgbClr val="3D3D3D"/>
                </a:solidFill>
                <a:latin typeface="Bree Serif"/>
                <a:ea typeface="Bree Serif"/>
                <a:cs typeface="Bree Serif"/>
                <a:sym typeface="Bree Serif"/>
              </a:rPr>
              <a:t>Cuerpo General de Bomberos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326321" y="1786402"/>
            <a:ext cx="1433270" cy="185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1536"/>
              </a:lnSpc>
              <a:spcBef>
                <a:spcPct val="0"/>
              </a:spcBef>
            </a:pPr>
            <a:r>
              <a:rPr lang="en-US" b="true" sz="1182" u="none">
                <a:solidFill>
                  <a:srgbClr val="3D3D3D"/>
                </a:solidFill>
                <a:latin typeface="Oswald Bold"/>
                <a:ea typeface="Oswald Bold"/>
                <a:cs typeface="Oswald Bold"/>
                <a:sym typeface="Oswald Bold"/>
              </a:rPr>
              <a:t>ACTIVIDADES CLAVES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326321" y="2029834"/>
            <a:ext cx="1433270" cy="630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6147" indent="-118074" lvl="1">
              <a:lnSpc>
                <a:spcPts val="1334"/>
              </a:lnSpc>
              <a:buFont typeface="Arial"/>
              <a:buChar char="•"/>
            </a:pPr>
            <a:r>
              <a:rPr lang="en-US" sz="1093">
                <a:solidFill>
                  <a:srgbClr val="3D3D3D"/>
                </a:solidFill>
                <a:latin typeface="Bree Serif"/>
                <a:ea typeface="Bree Serif"/>
                <a:cs typeface="Bree Serif"/>
                <a:sym typeface="Bree Serif"/>
              </a:rPr>
              <a:t>Desarrollo</a:t>
            </a:r>
          </a:p>
          <a:p>
            <a:pPr algn="l" marL="236147" indent="-118074" lvl="1">
              <a:lnSpc>
                <a:spcPts val="1334"/>
              </a:lnSpc>
              <a:buFont typeface="Arial"/>
              <a:buChar char="•"/>
            </a:pPr>
            <a:r>
              <a:rPr lang="en-US" sz="1093">
                <a:solidFill>
                  <a:srgbClr val="3D3D3D"/>
                </a:solidFill>
                <a:latin typeface="Bree Serif"/>
                <a:ea typeface="Bree Serif"/>
                <a:cs typeface="Bree Serif"/>
                <a:sym typeface="Bree Serif"/>
              </a:rPr>
              <a:t>Diseño</a:t>
            </a:r>
          </a:p>
          <a:p>
            <a:pPr algn="l" marL="236147" indent="-118074" lvl="1">
              <a:lnSpc>
                <a:spcPts val="1334"/>
              </a:lnSpc>
              <a:buFont typeface="Arial"/>
              <a:buChar char="•"/>
            </a:pPr>
            <a:r>
              <a:rPr lang="en-US" sz="1093">
                <a:solidFill>
                  <a:srgbClr val="3D3D3D"/>
                </a:solidFill>
                <a:latin typeface="Bree Serif"/>
                <a:ea typeface="Bree Serif"/>
                <a:cs typeface="Bree Serif"/>
                <a:sym typeface="Bree Serif"/>
              </a:rPr>
              <a:t>Pruebas </a:t>
            </a:r>
          </a:p>
          <a:p>
            <a:pPr algn="l" marL="236147" indent="-118074" lvl="1">
              <a:lnSpc>
                <a:spcPts val="1334"/>
              </a:lnSpc>
              <a:spcBef>
                <a:spcPct val="0"/>
              </a:spcBef>
              <a:buFont typeface="Arial"/>
              <a:buChar char="•"/>
            </a:pPr>
            <a:r>
              <a:rPr lang="en-US" sz="1093">
                <a:solidFill>
                  <a:srgbClr val="3D3D3D"/>
                </a:solidFill>
                <a:latin typeface="Bree Serif"/>
                <a:ea typeface="Bree Serif"/>
                <a:cs typeface="Bree Serif"/>
                <a:sym typeface="Bree Serif"/>
              </a:rPr>
              <a:t>Mantenimiento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994010" y="1786402"/>
            <a:ext cx="1433270" cy="375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1536"/>
              </a:lnSpc>
              <a:spcBef>
                <a:spcPct val="0"/>
              </a:spcBef>
            </a:pPr>
            <a:r>
              <a:rPr lang="en-US" b="true" sz="1182" u="none">
                <a:solidFill>
                  <a:srgbClr val="3D3D3D"/>
                </a:solidFill>
                <a:latin typeface="Oswald Bold"/>
                <a:ea typeface="Oswald Bold"/>
                <a:cs typeface="Oswald Bold"/>
                <a:sym typeface="Oswald Bold"/>
              </a:rPr>
              <a:t>RELACIONES CON EL CLIENTE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994010" y="3735719"/>
            <a:ext cx="1433270" cy="185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1536"/>
              </a:lnSpc>
              <a:spcBef>
                <a:spcPct val="0"/>
              </a:spcBef>
            </a:pPr>
            <a:r>
              <a:rPr lang="en-US" b="true" sz="1182" u="none">
                <a:solidFill>
                  <a:srgbClr val="3D3D3D"/>
                </a:solidFill>
                <a:latin typeface="Oswald Bold"/>
                <a:ea typeface="Oswald Bold"/>
                <a:cs typeface="Oswald Bold"/>
                <a:sym typeface="Oswald Bold"/>
              </a:rPr>
              <a:t>CANALES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994010" y="2206246"/>
            <a:ext cx="1433270" cy="630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6147" indent="-118074" lvl="1">
              <a:lnSpc>
                <a:spcPts val="1334"/>
              </a:lnSpc>
              <a:buFont typeface="Arial"/>
              <a:buChar char="•"/>
            </a:pPr>
            <a:r>
              <a:rPr lang="en-US" sz="1093">
                <a:solidFill>
                  <a:srgbClr val="3D3D3D"/>
                </a:solidFill>
                <a:latin typeface="Bree Serif"/>
                <a:ea typeface="Bree Serif"/>
                <a:cs typeface="Bree Serif"/>
                <a:sym typeface="Bree Serif"/>
              </a:rPr>
              <a:t>Servicio al cliente</a:t>
            </a:r>
          </a:p>
          <a:p>
            <a:pPr algn="l" marL="236147" indent="-118074" lvl="1">
              <a:lnSpc>
                <a:spcPts val="1334"/>
              </a:lnSpc>
              <a:buFont typeface="Arial"/>
              <a:buChar char="•"/>
            </a:pPr>
            <a:r>
              <a:rPr lang="en-US" sz="1093">
                <a:solidFill>
                  <a:srgbClr val="3D3D3D"/>
                </a:solidFill>
                <a:latin typeface="Bree Serif"/>
                <a:ea typeface="Bree Serif"/>
                <a:cs typeface="Bree Serif"/>
                <a:sym typeface="Bree Serif"/>
              </a:rPr>
              <a:t>Comentarios de la App</a:t>
            </a:r>
          </a:p>
          <a:p>
            <a:pPr algn="l" marL="236147" indent="-118074" lvl="1">
              <a:lnSpc>
                <a:spcPts val="1334"/>
              </a:lnSpc>
              <a:spcBef>
                <a:spcPct val="0"/>
              </a:spcBef>
              <a:buFont typeface="Arial"/>
              <a:buChar char="•"/>
            </a:pPr>
            <a:r>
              <a:rPr lang="en-US" sz="1093">
                <a:solidFill>
                  <a:srgbClr val="3D3D3D"/>
                </a:solidFill>
                <a:latin typeface="Bree Serif"/>
                <a:ea typeface="Bree Serif"/>
                <a:cs typeface="Bree Serif"/>
                <a:sym typeface="Bree Serif"/>
              </a:rPr>
              <a:t>Autoservicio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994010" y="3968854"/>
            <a:ext cx="1433270" cy="472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6147" indent="-118074" lvl="1">
              <a:lnSpc>
                <a:spcPts val="1334"/>
              </a:lnSpc>
              <a:buFont typeface="Arial"/>
              <a:buChar char="•"/>
            </a:pPr>
            <a:r>
              <a:rPr lang="en-US" sz="1093">
                <a:solidFill>
                  <a:srgbClr val="3D3D3D"/>
                </a:solidFill>
                <a:latin typeface="Bree Serif"/>
                <a:ea typeface="Bree Serif"/>
                <a:cs typeface="Bree Serif"/>
                <a:sym typeface="Bree Serif"/>
              </a:rPr>
              <a:t>Play Store</a:t>
            </a:r>
          </a:p>
          <a:p>
            <a:pPr algn="l" marL="236147" indent="-118074" lvl="1">
              <a:lnSpc>
                <a:spcPts val="1334"/>
              </a:lnSpc>
              <a:buFont typeface="Arial"/>
              <a:buChar char="•"/>
            </a:pPr>
            <a:r>
              <a:rPr lang="en-US" sz="1093">
                <a:solidFill>
                  <a:srgbClr val="3D3D3D"/>
                </a:solidFill>
                <a:latin typeface="Bree Serif"/>
                <a:ea typeface="Bree Serif"/>
                <a:cs typeface="Bree Serif"/>
                <a:sym typeface="Bree Serif"/>
              </a:rPr>
              <a:t>Redes Sociales</a:t>
            </a:r>
          </a:p>
          <a:p>
            <a:pPr algn="l" marL="236147" indent="-118074" lvl="1">
              <a:lnSpc>
                <a:spcPts val="1334"/>
              </a:lnSpc>
              <a:spcBef>
                <a:spcPct val="0"/>
              </a:spcBef>
              <a:buFont typeface="Arial"/>
              <a:buChar char="•"/>
            </a:pPr>
            <a:r>
              <a:rPr lang="en-US" sz="1093">
                <a:solidFill>
                  <a:srgbClr val="3D3D3D"/>
                </a:solidFill>
                <a:latin typeface="Bree Serif"/>
                <a:ea typeface="Bree Serif"/>
                <a:cs typeface="Bree Serif"/>
                <a:sym typeface="Bree Serif"/>
              </a:rPr>
              <a:t>Paginas Web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492476" y="5703771"/>
            <a:ext cx="4138885" cy="185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1536"/>
              </a:lnSpc>
              <a:spcBef>
                <a:spcPct val="0"/>
              </a:spcBef>
            </a:pPr>
            <a:r>
              <a:rPr lang="en-US" b="true" sz="1182" u="none">
                <a:solidFill>
                  <a:srgbClr val="3D3D3D"/>
                </a:solidFill>
                <a:latin typeface="Oswald Bold"/>
                <a:ea typeface="Oswald Bold"/>
                <a:cs typeface="Oswald Bold"/>
                <a:sym typeface="Oswald Bold"/>
              </a:rPr>
              <a:t>ESTRUCTURA DE COSTES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492476" y="5936407"/>
            <a:ext cx="4138885" cy="644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6148" indent="-118074" lvl="1">
              <a:lnSpc>
                <a:spcPts val="1334"/>
              </a:lnSpc>
              <a:buFont typeface="Arial"/>
              <a:buChar char="•"/>
            </a:pPr>
            <a:r>
              <a:rPr lang="en-US" sz="1093">
                <a:solidFill>
                  <a:srgbClr val="3D3D3D"/>
                </a:solidFill>
                <a:latin typeface="Bree Serif"/>
                <a:ea typeface="Bree Serif"/>
                <a:cs typeface="Bree Serif"/>
                <a:sym typeface="Bree Serif"/>
              </a:rPr>
              <a:t>Desarrollo (Principal)</a:t>
            </a:r>
          </a:p>
          <a:p>
            <a:pPr algn="l" marL="236148" indent="-118074" lvl="1">
              <a:lnSpc>
                <a:spcPts val="1334"/>
              </a:lnSpc>
              <a:buFont typeface="Arial"/>
              <a:buChar char="•"/>
            </a:pPr>
            <a:r>
              <a:rPr lang="en-US" sz="1093">
                <a:solidFill>
                  <a:srgbClr val="3D3D3D"/>
                </a:solidFill>
                <a:latin typeface="Bree Serif"/>
                <a:ea typeface="Bree Serif"/>
                <a:cs typeface="Bree Serif"/>
                <a:sym typeface="Bree Serif"/>
              </a:rPr>
              <a:t>Infraestructura</a:t>
            </a:r>
          </a:p>
          <a:p>
            <a:pPr algn="l" marL="236148" indent="-118074" lvl="1">
              <a:lnSpc>
                <a:spcPts val="1334"/>
              </a:lnSpc>
              <a:buFont typeface="Arial"/>
              <a:buChar char="•"/>
            </a:pPr>
            <a:r>
              <a:rPr lang="en-US" sz="1093">
                <a:solidFill>
                  <a:srgbClr val="3D3D3D"/>
                </a:solidFill>
                <a:latin typeface="Bree Serif"/>
                <a:ea typeface="Bree Serif"/>
                <a:cs typeface="Bree Serif"/>
                <a:sym typeface="Bree Serif"/>
              </a:rPr>
              <a:t>Marketing</a:t>
            </a:r>
          </a:p>
          <a:p>
            <a:pPr algn="l" marL="236148" indent="-118074" lvl="1">
              <a:lnSpc>
                <a:spcPts val="1334"/>
              </a:lnSpc>
              <a:buFont typeface="Arial"/>
              <a:buChar char="•"/>
            </a:pPr>
            <a:r>
              <a:rPr lang="en-US" sz="1093">
                <a:solidFill>
                  <a:srgbClr val="3D3D3D"/>
                </a:solidFill>
                <a:latin typeface="Bree Serif"/>
                <a:ea typeface="Bree Serif"/>
                <a:cs typeface="Bree Serif"/>
                <a:sym typeface="Bree Serif"/>
              </a:rPr>
              <a:t>Mantenimiento 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105241" y="5703771"/>
            <a:ext cx="4138885" cy="185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1536"/>
              </a:lnSpc>
              <a:spcBef>
                <a:spcPct val="0"/>
              </a:spcBef>
            </a:pPr>
            <a:r>
              <a:rPr lang="en-US" b="true" sz="1182" u="none">
                <a:solidFill>
                  <a:srgbClr val="3D3D3D"/>
                </a:solidFill>
                <a:latin typeface="Oswald Bold"/>
                <a:ea typeface="Oswald Bold"/>
                <a:cs typeface="Oswald Bold"/>
                <a:sym typeface="Oswald Bold"/>
              </a:rPr>
              <a:t>FUENTE DE INGRESOS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105241" y="5936407"/>
            <a:ext cx="4138885" cy="482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6147" indent="-118073" lvl="1">
              <a:lnSpc>
                <a:spcPts val="1334"/>
              </a:lnSpc>
              <a:buFont typeface="Arial"/>
              <a:buChar char="•"/>
            </a:pPr>
            <a:r>
              <a:rPr lang="en-US" sz="1093">
                <a:solidFill>
                  <a:srgbClr val="3D3D3D"/>
                </a:solidFill>
                <a:latin typeface="Bree Serif"/>
                <a:ea typeface="Bree Serif"/>
                <a:cs typeface="Bree Serif"/>
                <a:sym typeface="Bree Serif"/>
              </a:rPr>
              <a:t>Aplicación gratuita </a:t>
            </a:r>
          </a:p>
          <a:p>
            <a:pPr algn="l" marL="236147" indent="-118073" lvl="1">
              <a:lnSpc>
                <a:spcPts val="1334"/>
              </a:lnSpc>
              <a:buFont typeface="Arial"/>
              <a:buChar char="•"/>
            </a:pPr>
            <a:r>
              <a:rPr lang="en-US" sz="1093">
                <a:solidFill>
                  <a:srgbClr val="3D3D3D"/>
                </a:solidFill>
                <a:latin typeface="Bree Serif"/>
                <a:ea typeface="Bree Serif"/>
                <a:cs typeface="Bree Serif"/>
                <a:sym typeface="Bree Serif"/>
              </a:rPr>
              <a:t>Financiamiento institucional </a:t>
            </a:r>
          </a:p>
          <a:p>
            <a:pPr algn="l" marL="0" indent="0" lvl="1">
              <a:lnSpc>
                <a:spcPts val="1334"/>
              </a:lnSpc>
              <a:spcBef>
                <a:spcPct val="0"/>
              </a:spcBef>
            </a:pPr>
          </a:p>
        </p:txBody>
      </p:sp>
      <p:sp>
        <p:nvSpPr>
          <p:cNvPr name="TextBox 48" id="48"/>
          <p:cNvSpPr txBox="true"/>
          <p:nvPr/>
        </p:nvSpPr>
        <p:spPr>
          <a:xfrm rot="0">
            <a:off x="1618721" y="364697"/>
            <a:ext cx="651615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24"/>
              </a:lnSpc>
              <a:spcBef>
                <a:spcPct val="0"/>
              </a:spcBef>
            </a:pPr>
            <a:r>
              <a:rPr lang="en-US" b="true" sz="3854">
                <a:solidFill>
                  <a:srgbClr val="1C1C1A"/>
                </a:solidFill>
                <a:latin typeface="Oswald Bold"/>
                <a:ea typeface="Oswald Bold"/>
                <a:cs typeface="Oswald Bold"/>
                <a:sym typeface="Oswald Bold"/>
              </a:rPr>
              <a:t>BUSINESS MODEL CANVAS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618721" y="1079072"/>
            <a:ext cx="6516159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2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APLICACIÓN MÓVIL PARA LA MEJORA DE LA EFECTIVIDAD EN EL REPORTE DE INCIDENCIAS EN LA CIUDAD DE TACNA, 2026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DAHS_qK-VNA</dc:identifier>
  <dcterms:modified xsi:type="dcterms:W3CDTF">2011-08-01T06:04:30Z</dcterms:modified>
  <cp:revision>1</cp:revision>
  <dc:title>Business Model Canvas - Propuesta de Proyecto</dc:title>
</cp:coreProperties>
</file>